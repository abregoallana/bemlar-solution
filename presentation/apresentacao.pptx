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lana Rodrigues Abrego" userId="b03a7f8f-0934-4184-80c0-2ca250c2463d" providerId="ADAL" clId="{00F1A537-929B-41ED-95EF-FB367AAA976A}"/>
    <pc:docChg chg="undo custSel modSld">
      <pc:chgData name="Allana Rodrigues Abrego" userId="b03a7f8f-0934-4184-80c0-2ca250c2463d" providerId="ADAL" clId="{00F1A537-929B-41ED-95EF-FB367AAA976A}" dt="2026-09-07T23:31:21.555" v="20" actId="1076"/>
      <pc:docMkLst>
        <pc:docMk/>
      </pc:docMkLst>
      <pc:sldChg chg="modSp mod">
        <pc:chgData name="Allana Rodrigues Abrego" userId="b03a7f8f-0934-4184-80c0-2ca250c2463d" providerId="ADAL" clId="{00F1A537-929B-41ED-95EF-FB367AAA976A}" dt="2026-09-07T23:27:14.998" v="1" actId="20577"/>
        <pc:sldMkLst>
          <pc:docMk/>
          <pc:sldMk cId="0" sldId="256"/>
        </pc:sldMkLst>
        <pc:spChg chg="mod">
          <ac:chgData name="Allana Rodrigues Abrego" userId="b03a7f8f-0934-4184-80c0-2ca250c2463d" providerId="ADAL" clId="{00F1A537-929B-41ED-95EF-FB367AAA976A}" dt="2026-09-07T23:27:14.998" v="1" actId="20577"/>
          <ac:spMkLst>
            <pc:docMk/>
            <pc:sldMk cId="0" sldId="256"/>
            <ac:spMk id="8" creationId="{00000000-0000-0000-0000-000000000000}"/>
          </ac:spMkLst>
        </pc:spChg>
      </pc:sldChg>
      <pc:sldChg chg="modSp mod">
        <pc:chgData name="Allana Rodrigues Abrego" userId="b03a7f8f-0934-4184-80c0-2ca250c2463d" providerId="ADAL" clId="{00F1A537-929B-41ED-95EF-FB367AAA976A}" dt="2026-09-07T23:31:21.555" v="20" actId="1076"/>
        <pc:sldMkLst>
          <pc:docMk/>
          <pc:sldMk cId="0" sldId="257"/>
        </pc:sldMkLst>
        <pc:spChg chg="mod">
          <ac:chgData name="Allana Rodrigues Abrego" userId="b03a7f8f-0934-4184-80c0-2ca250c2463d" providerId="ADAL" clId="{00F1A537-929B-41ED-95EF-FB367AAA976A}" dt="2026-09-07T23:31:03.053" v="18" actId="107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Allana Rodrigues Abrego" userId="b03a7f8f-0934-4184-80c0-2ca250c2463d" providerId="ADAL" clId="{00F1A537-929B-41ED-95EF-FB367AAA976A}" dt="2026-09-07T23:31:14.096" v="19" actId="1076"/>
          <ac:spMkLst>
            <pc:docMk/>
            <pc:sldMk cId="0" sldId="257"/>
            <ac:spMk id="14" creationId="{00000000-0000-0000-0000-000000000000}"/>
          </ac:spMkLst>
        </pc:spChg>
        <pc:picChg chg="mod">
          <ac:chgData name="Allana Rodrigues Abrego" userId="b03a7f8f-0934-4184-80c0-2ca250c2463d" providerId="ADAL" clId="{00F1A537-929B-41ED-95EF-FB367AAA976A}" dt="2026-09-07T23:31:21.555" v="20" actId="1076"/>
          <ac:picMkLst>
            <pc:docMk/>
            <pc:sldMk cId="0" sldId="257"/>
            <ac:picMk id="15" creationId="{00000000-0000-0000-0000-000000000000}"/>
          </ac:picMkLst>
        </pc:picChg>
      </pc:sldChg>
      <pc:sldChg chg="modSp mod">
        <pc:chgData name="Allana Rodrigues Abrego" userId="b03a7f8f-0934-4184-80c0-2ca250c2463d" providerId="ADAL" clId="{00F1A537-929B-41ED-95EF-FB367AAA976A}" dt="2026-09-07T23:29:11.044" v="9" actId="1076"/>
        <pc:sldMkLst>
          <pc:docMk/>
          <pc:sldMk cId="0" sldId="258"/>
        </pc:sldMkLst>
        <pc:spChg chg="mod">
          <ac:chgData name="Allana Rodrigues Abrego" userId="b03a7f8f-0934-4184-80c0-2ca250c2463d" providerId="ADAL" clId="{00F1A537-929B-41ED-95EF-FB367AAA976A}" dt="2026-09-07T23:27:56.468" v="5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Allana Rodrigues Abrego" userId="b03a7f8f-0934-4184-80c0-2ca250c2463d" providerId="ADAL" clId="{00F1A537-929B-41ED-95EF-FB367AAA976A}" dt="2026-09-07T23:29:11.044" v="9" actId="1076"/>
          <ac:spMkLst>
            <pc:docMk/>
            <pc:sldMk cId="0" sldId="258"/>
            <ac:spMk id="8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 Same Side Corner Rectangle 2"/>
          <p:cNvSpPr/>
          <p:nvPr/>
        </p:nvSpPr>
        <p:spPr>
          <a:xfrm>
            <a:off x="6629400" y="658368"/>
            <a:ext cx="4937760" cy="528523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37392" y="475488"/>
            <a:ext cx="155448" cy="155448"/>
          </a:xfrm>
          <a:prstGeom prst="ellipse">
            <a:avLst/>
          </a:prstGeom>
          <a:solidFill>
            <a:srgbClr val="DC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74980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BFAFA4"/>
                </a:solidFill>
                <a:latin typeface="Avenir Next"/>
              </a:rPr>
              <a:t>COBRANÇA PREVENTIVA · O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0972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6D8196"/>
                </a:solidFill>
                <a:latin typeface="Baskerville"/>
              </a:rPr>
              <a:t>R$ 25 mil por semana
em contratos que vão atrasar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endParaRPr sz="3300" b="0" i="0">
              <a:solidFill>
                <a:srgbClr val="6D8196"/>
              </a:solidFill>
              <a:latin typeface="Baskerville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41248" y="2432304"/>
            <a:ext cx="1051560" cy="13970"/>
          </a:xfrm>
          <a:prstGeom prst="rect">
            <a:avLst/>
          </a:prstGeom>
          <a:solidFill>
            <a:srgbClr val="DC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2743200"/>
            <a:ext cx="54864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Aft>
                <a:spcPts val="1300"/>
              </a:spcAft>
            </a:pP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Prevemos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quem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não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vai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pagar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a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próxima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parcela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em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até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30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dias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,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sete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dias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lang="pt-BR" sz="1350" b="0" i="0" dirty="0">
                <a:solidFill>
                  <a:srgbClr val="3E4C5A"/>
                </a:solidFill>
                <a:latin typeface="Avenir Next"/>
              </a:rPr>
              <a:t>antes do vencimento.
Cada contrato que chega aos 30 dias custa R$ 1.200. Na média da base (428 dias), cerca de 21 contratos por semana chegam aos 30 dias de atraso.
Uma correção: o status do cadastro não serve para isso. Em 62 contratos ele discorda do que de fato aconteceu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,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incluindo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22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marcados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como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quitados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que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passaram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dos 30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dias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 de </a:t>
            </a:r>
            <a:r>
              <a:rPr sz="1350" b="0" i="0" dirty="0" err="1">
                <a:solidFill>
                  <a:srgbClr val="3E4C5A"/>
                </a:solidFill>
                <a:latin typeface="Avenir Next"/>
              </a:rPr>
              <a:t>atraso</a:t>
            </a:r>
            <a:r>
              <a:rPr sz="1350" b="0" i="0" dirty="0">
                <a:solidFill>
                  <a:srgbClr val="3E4C5A"/>
                </a:solidFill>
                <a:latin typeface="Avenir Next"/>
              </a:rPr>
              <a:t>.</a:t>
            </a:r>
          </a:p>
          <a:p>
            <a:pPr algn="l">
              <a:lnSpc>
                <a:spcPct val="128000"/>
              </a:lnSpc>
              <a:spcAft>
                <a:spcPts val="1300"/>
              </a:spcAft>
            </a:pPr>
            <a:endParaRPr sz="1350" b="0" i="0" dirty="0">
              <a:solidFill>
                <a:srgbClr val="3E4C5A"/>
              </a:solidFill>
              <a:latin typeface="Avenir Next"/>
            </a:endParaRPr>
          </a:p>
          <a:p>
            <a:pPr algn="l">
              <a:lnSpc>
                <a:spcPct val="128000"/>
              </a:lnSpc>
              <a:spcAft>
                <a:spcPts val="1300"/>
              </a:spcAft>
            </a:pPr>
            <a:endParaRPr sz="1350" b="0" i="0" dirty="0">
              <a:solidFill>
                <a:srgbClr val="3E4C5A"/>
              </a:solidFill>
              <a:latin typeface="Avenir Next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41248" y="6053328"/>
            <a:ext cx="566928" cy="11430"/>
          </a:xfrm>
          <a:prstGeom prst="rect">
            <a:avLst/>
          </a:prstGeom>
          <a:solidFill>
            <a:srgbClr val="BFA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6181344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 i="0">
                <a:solidFill>
                  <a:srgbClr val="BFAFA4"/>
                </a:solidFill>
                <a:latin typeface="Avenir Next"/>
              </a:rPr>
              <a:t>01   ·   O problema e o que estamos prevendo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481328"/>
            <a:ext cx="3749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950" b="0" i="0">
                <a:solidFill>
                  <a:srgbClr val="BFAFA4"/>
                </a:solidFill>
                <a:latin typeface="Avenir Next"/>
              </a:rPr>
              <a:t>EXPOSIÇÃO SEMANAL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847088"/>
            <a:ext cx="3749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400" b="0" i="0" dirty="0">
                <a:solidFill>
                  <a:srgbClr val="6D8196"/>
                </a:solidFill>
                <a:latin typeface="Baskerville"/>
              </a:rPr>
              <a:t>R$ 25.500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33472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BFAFA4"/>
                </a:solidFill>
                <a:latin typeface="Avenir Next"/>
              </a:rPr>
              <a:t>~21 contratos/semana × R$ 1.200</a:t>
            </a:r>
          </a:p>
        </p:txBody>
      </p:sp>
      <p:pic>
        <p:nvPicPr>
          <p:cNvPr id="14" name="Picture 13" descr="slide1_probl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020" y="3620748"/>
            <a:ext cx="4160520" cy="16556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 Same Side Corner Rectangle 2"/>
          <p:cNvSpPr/>
          <p:nvPr/>
        </p:nvSpPr>
        <p:spPr>
          <a:xfrm>
            <a:off x="6629400" y="658368"/>
            <a:ext cx="4937760" cy="528523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37392" y="475488"/>
            <a:ext cx="155448" cy="155448"/>
          </a:xfrm>
          <a:prstGeom prst="ellipse">
            <a:avLst/>
          </a:prstGeom>
          <a:solidFill>
            <a:srgbClr val="DC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74980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BFAFA4"/>
                </a:solidFill>
                <a:latin typeface="Avenir Next"/>
              </a:rPr>
              <a:t>O PERFIL DO CONTRATO DE RISCO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0972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6D8196"/>
                </a:solidFill>
                <a:latin typeface="Baskerville"/>
              </a:rPr>
              <a:t>O que separa quem atrasa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6D8196"/>
                </a:solidFill>
                <a:latin typeface="Baskerville"/>
              </a:rPr>
              <a:t>e o que não separa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432304"/>
            <a:ext cx="1051560" cy="13970"/>
          </a:xfrm>
          <a:prstGeom prst="rect">
            <a:avLst/>
          </a:prstGeom>
          <a:solidFill>
            <a:srgbClr val="DC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27249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100" b="0" i="0">
                <a:solidFill>
                  <a:srgbClr val="BFAFA4"/>
                </a:solidFill>
                <a:latin typeface="Avenir Next"/>
              </a:rPr>
              <a:t>O que ficou de fora, e o que usamos no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54096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Aft>
                <a:spcPts val="1100"/>
              </a:spcAft>
            </a:pPr>
            <a:r>
              <a:rPr sz="1250" b="0" i="0" dirty="0">
                <a:solidFill>
                  <a:srgbClr val="3E4C5A"/>
                </a:solidFill>
                <a:latin typeface="Avenir Next"/>
              </a:rPr>
              <a:t>Bairro e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sexo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 · 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risco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jurídico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, e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medem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renda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com o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rótulo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errado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. No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lugar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: o peso da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parcela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na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renda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.</a:t>
            </a:r>
          </a:p>
          <a:p>
            <a:pPr algn="l">
              <a:lnSpc>
                <a:spcPct val="128000"/>
              </a:lnSpc>
              <a:spcAft>
                <a:spcPts val="1100"/>
              </a:spcAft>
            </a:pPr>
            <a:r>
              <a:rPr sz="1250" b="0" i="0" dirty="0">
                <a:solidFill>
                  <a:srgbClr val="3E4C5A"/>
                </a:solidFill>
                <a:latin typeface="Avenir Next"/>
              </a:rPr>
              <a:t>Status do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contrato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 ·  é a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foto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de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hoje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,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não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existia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na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hora da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ligação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. No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lugar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: o histórico de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pagamento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até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aquela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data.</a:t>
            </a:r>
          </a:p>
          <a:p>
            <a:pPr algn="l">
              <a:lnSpc>
                <a:spcPct val="128000"/>
              </a:lnSpc>
              <a:spcAft>
                <a:spcPts val="1100"/>
              </a:spcAft>
            </a:pP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Motivos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de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atraso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 ·  o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arquivo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não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tem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número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de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contrato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.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Peça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a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extração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com a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chave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e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ele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vira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roteiro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de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ligação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.</a:t>
            </a:r>
          </a:p>
          <a:p>
            <a:pPr algn="l">
              <a:lnSpc>
                <a:spcPct val="128000"/>
              </a:lnSpc>
              <a:spcAft>
                <a:spcPts val="1100"/>
              </a:spcAft>
            </a:pPr>
            <a:r>
              <a:rPr sz="1250" b="0" i="0" dirty="0">
                <a:solidFill>
                  <a:srgbClr val="3E4C5A"/>
                </a:solidFill>
                <a:latin typeface="Avenir Next"/>
              </a:rPr>
              <a:t>O score de bureau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foi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usado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e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paga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o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próprio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custo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: é o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segundo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sinal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mais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 forte da </a:t>
            </a:r>
            <a:r>
              <a:rPr sz="1250" b="0" i="0" dirty="0" err="1">
                <a:solidFill>
                  <a:srgbClr val="3E4C5A"/>
                </a:solidFill>
                <a:latin typeface="Avenir Next"/>
              </a:rPr>
              <a:t>lista</a:t>
            </a:r>
            <a:r>
              <a:rPr sz="1250" b="0" i="0" dirty="0">
                <a:solidFill>
                  <a:srgbClr val="3E4C5A"/>
                </a:solidFill>
                <a:latin typeface="Avenir Next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6053328"/>
            <a:ext cx="566928" cy="11430"/>
          </a:xfrm>
          <a:prstGeom prst="rect">
            <a:avLst/>
          </a:prstGeom>
          <a:solidFill>
            <a:srgbClr val="BFA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6181344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 i="0">
                <a:solidFill>
                  <a:srgbClr val="BFAFA4"/>
                </a:solidFill>
                <a:latin typeface="Avenir Next"/>
              </a:rPr>
              <a:t>02   ·   Sinais, achado negativo e recusas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481328"/>
            <a:ext cx="3749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950" b="0" i="0">
                <a:solidFill>
                  <a:srgbClr val="BFAFA4"/>
                </a:solidFill>
                <a:latin typeface="Avenir Next"/>
              </a:rPr>
              <a:t>ACHADO NEGATIVO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8020" y="1886717"/>
            <a:ext cx="4090219" cy="841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300" b="0" i="1" dirty="0">
                <a:solidFill>
                  <a:srgbClr val="6D8196"/>
                </a:solidFill>
                <a:latin typeface="Baskerville"/>
              </a:rPr>
              <a:t>“A </a:t>
            </a:r>
            <a:r>
              <a:rPr sz="2300" b="0" i="1" dirty="0" err="1">
                <a:solidFill>
                  <a:srgbClr val="6D8196"/>
                </a:solidFill>
                <a:latin typeface="Baskerville"/>
              </a:rPr>
              <a:t>negociação</a:t>
            </a:r>
            <a:r>
              <a:rPr sz="2300" b="0" i="1" dirty="0">
                <a:solidFill>
                  <a:srgbClr val="6D8196"/>
                </a:solidFill>
                <a:latin typeface="Baskerville"/>
              </a:rPr>
              <a:t> de </a:t>
            </a:r>
            <a:r>
              <a:rPr sz="2300" b="0" i="1" dirty="0" err="1">
                <a:solidFill>
                  <a:srgbClr val="6D8196"/>
                </a:solidFill>
                <a:latin typeface="Baskerville"/>
              </a:rPr>
              <a:t>dívida</a:t>
            </a:r>
            <a:r>
              <a:rPr sz="2300" b="0" i="1" dirty="0">
                <a:solidFill>
                  <a:srgbClr val="6D8196"/>
                </a:solidFill>
                <a:latin typeface="Baskerville"/>
              </a:rPr>
              <a:t> no SAC</a:t>
            </a:r>
            <a:r>
              <a:rPr lang="pt-BR" sz="2300" b="0" i="1" dirty="0">
                <a:solidFill>
                  <a:srgbClr val="6D8196"/>
                </a:solidFill>
                <a:latin typeface="Baskerville"/>
              </a:rPr>
              <a:t> </a:t>
            </a:r>
            <a:r>
              <a:rPr sz="2300" b="0" i="1" dirty="0" err="1">
                <a:solidFill>
                  <a:srgbClr val="6D8196"/>
                </a:solidFill>
                <a:latin typeface="Baskerville"/>
              </a:rPr>
              <a:t>chega</a:t>
            </a:r>
            <a:r>
              <a:rPr sz="2300" b="0" i="1" dirty="0">
                <a:solidFill>
                  <a:srgbClr val="6D8196"/>
                </a:solidFill>
                <a:latin typeface="Baskerville"/>
              </a:rPr>
              <a:t> sempre </a:t>
            </a:r>
            <a:r>
              <a:rPr sz="2300" b="0" i="1" dirty="0" err="1">
                <a:solidFill>
                  <a:srgbClr val="6D8196"/>
                </a:solidFill>
                <a:latin typeface="Baskerville"/>
              </a:rPr>
              <a:t>depois</a:t>
            </a:r>
            <a:r>
              <a:rPr sz="2300" b="0" i="1" dirty="0">
                <a:solidFill>
                  <a:srgbClr val="6D8196"/>
                </a:solidFill>
                <a:latin typeface="Baskerville"/>
              </a:rPr>
              <a:t> do </a:t>
            </a:r>
            <a:r>
              <a:rPr sz="2300" b="0" i="1" dirty="0" err="1">
                <a:solidFill>
                  <a:srgbClr val="6D8196"/>
                </a:solidFill>
                <a:latin typeface="Baskerville"/>
              </a:rPr>
              <a:t>atraso</a:t>
            </a:r>
            <a:r>
              <a:rPr sz="2300" b="0" i="1" dirty="0">
                <a:solidFill>
                  <a:srgbClr val="6D8196"/>
                </a:solidFill>
                <a:latin typeface="Baskerville"/>
              </a:rPr>
              <a:t>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8609" y="2854499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50" b="0" i="0" dirty="0">
                <a:solidFill>
                  <a:srgbClr val="BFAFA4"/>
                </a:solidFill>
                <a:latin typeface="Avenir Next"/>
              </a:rPr>
              <a:t>707 </a:t>
            </a:r>
            <a:r>
              <a:rPr sz="1050" b="0" i="0" dirty="0" err="1">
                <a:solidFill>
                  <a:srgbClr val="BFAFA4"/>
                </a:solidFill>
                <a:latin typeface="Avenir Next"/>
              </a:rPr>
              <a:t>ocorrências</a:t>
            </a:r>
            <a:r>
              <a:rPr sz="1050" b="0" i="0" dirty="0">
                <a:solidFill>
                  <a:srgbClr val="BFAFA4"/>
                </a:solidFill>
                <a:latin typeface="Avenir Next"/>
              </a:rPr>
              <a:t> no </a:t>
            </a:r>
            <a:r>
              <a:rPr sz="1050" b="0" i="0" dirty="0" err="1">
                <a:solidFill>
                  <a:srgbClr val="BFAFA4"/>
                </a:solidFill>
                <a:latin typeface="Avenir Next"/>
              </a:rPr>
              <a:t>período</a:t>
            </a:r>
            <a:r>
              <a:rPr sz="1050" b="0" i="0" dirty="0">
                <a:solidFill>
                  <a:srgbClr val="BFAFA4"/>
                </a:solidFill>
                <a:latin typeface="Avenir Next"/>
              </a:rPr>
              <a:t> — </a:t>
            </a:r>
            <a:r>
              <a:rPr sz="1050" b="0" i="0" dirty="0" err="1">
                <a:solidFill>
                  <a:srgbClr val="BFAFA4"/>
                </a:solidFill>
                <a:latin typeface="Avenir Next"/>
              </a:rPr>
              <a:t>nenhuma</a:t>
            </a:r>
            <a:r>
              <a:rPr sz="1050" b="0" i="0" dirty="0">
                <a:solidFill>
                  <a:srgbClr val="BFAFA4"/>
                </a:solidFill>
                <a:latin typeface="Avenir Next"/>
              </a:rPr>
              <a:t> antes da data da </a:t>
            </a:r>
            <a:r>
              <a:rPr sz="1050" b="0" i="0" dirty="0" err="1">
                <a:solidFill>
                  <a:srgbClr val="BFAFA4"/>
                </a:solidFill>
                <a:latin typeface="Avenir Next"/>
              </a:rPr>
              <a:t>ligação</a:t>
            </a:r>
            <a:r>
              <a:rPr sz="1050" b="0" i="0" dirty="0">
                <a:solidFill>
                  <a:srgbClr val="BFAFA4"/>
                </a:solidFill>
                <a:latin typeface="Avenir Next"/>
              </a:rPr>
              <a:t> </a:t>
            </a:r>
            <a:r>
              <a:rPr sz="1050" b="0" i="0" dirty="0" err="1">
                <a:solidFill>
                  <a:srgbClr val="BFAFA4"/>
                </a:solidFill>
                <a:latin typeface="Avenir Next"/>
              </a:rPr>
              <a:t>preventiva</a:t>
            </a:r>
            <a:endParaRPr sz="1050" b="0" i="0" dirty="0">
              <a:solidFill>
                <a:srgbClr val="BFAFA4"/>
              </a:solidFill>
              <a:latin typeface="Avenir Next"/>
            </a:endParaRPr>
          </a:p>
        </p:txBody>
      </p:sp>
      <p:pic>
        <p:nvPicPr>
          <p:cNvPr id="15" name="Picture 14" descr="slide2_sin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020" y="3692606"/>
            <a:ext cx="4160520" cy="16451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 Same Side Corner Rectangle 2"/>
          <p:cNvSpPr/>
          <p:nvPr/>
        </p:nvSpPr>
        <p:spPr>
          <a:xfrm>
            <a:off x="6629400" y="658368"/>
            <a:ext cx="4937760" cy="528523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37392" y="475488"/>
            <a:ext cx="155448" cy="155448"/>
          </a:xfrm>
          <a:prstGeom prst="ellipse">
            <a:avLst/>
          </a:prstGeom>
          <a:solidFill>
            <a:srgbClr val="DC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41248" y="74980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00" b="0" i="0">
                <a:solidFill>
                  <a:srgbClr val="BFAFA4"/>
                </a:solidFill>
                <a:latin typeface="Avenir Next"/>
              </a:rPr>
              <a:t>O PILOTO FUNCIONA?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0972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6D8196"/>
                </a:solidFill>
                <a:latin typeface="Baskerville"/>
              </a:rPr>
              <a:t>Recomendação: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6D8196"/>
                </a:solidFill>
                <a:latin typeface="Baskerville"/>
              </a:rPr>
              <a:t>ligar, com ressalva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432304"/>
            <a:ext cx="1051560" cy="13970"/>
          </a:xfrm>
          <a:prstGeom prst="rect">
            <a:avLst/>
          </a:prstGeom>
          <a:solidFill>
            <a:srgbClr val="DC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2725127"/>
            <a:ext cx="5486400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8000"/>
              </a:lnSpc>
              <a:spcAft>
                <a:spcPts val="1300"/>
              </a:spcAft>
            </a:pPr>
            <a:r>
              <a:rPr sz="1350" dirty="0">
                <a:solidFill>
                  <a:srgbClr val="3E4C5A"/>
                </a:solidFill>
                <a:latin typeface="Avenir Next"/>
              </a:rPr>
              <a:t>A fila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acerta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17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contratos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a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mais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que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o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critério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de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hoje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e 28 a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mais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que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um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sorteio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.</a:t>
            </a:r>
          </a:p>
          <a:p>
            <a:pPr>
              <a:lnSpc>
                <a:spcPct val="128000"/>
              </a:lnSpc>
              <a:spcAft>
                <a:spcPts val="1300"/>
              </a:spcAft>
            </a:pPr>
            <a:r>
              <a:rPr sz="1350" dirty="0">
                <a:solidFill>
                  <a:srgbClr val="3E4C5A"/>
                </a:solidFill>
                <a:latin typeface="Avenir Next"/>
              </a:rPr>
              <a:t>As 16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ligações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que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sobram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vão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para quem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pagaria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de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qualquer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jeito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e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custam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minutos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.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Os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251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contratos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fora da fila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custam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R$ 1.200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cada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, se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ninguém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ligar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.</a:t>
            </a:r>
          </a:p>
          <a:p>
            <a:pPr>
              <a:lnSpc>
                <a:spcPct val="128000"/>
              </a:lnSpc>
              <a:spcAft>
                <a:spcPts val="1300"/>
              </a:spcAft>
            </a:pPr>
            <a:r>
              <a:rPr sz="1350" dirty="0">
                <a:solidFill>
                  <a:srgbClr val="3E4C5A"/>
                </a:solidFill>
                <a:latin typeface="Avenir Next"/>
              </a:rPr>
              <a:t>O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limite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não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é o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modelo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, é a agenda: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na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janela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de teste (315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inadimplentes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, 11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dias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), 80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ligações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capturam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20% — o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teto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teórico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é 25%.</a:t>
            </a:r>
          </a:p>
          <a:p>
            <a:pPr>
              <a:lnSpc>
                <a:spcPct val="128000"/>
              </a:lnSpc>
              <a:spcAft>
                <a:spcPts val="1300"/>
              </a:spcAft>
            </a:pPr>
            <a:r>
              <a:rPr sz="1350" dirty="0">
                <a:solidFill>
                  <a:srgbClr val="3E4C5A"/>
                </a:solidFill>
                <a:latin typeface="Avenir Next"/>
              </a:rPr>
              <a:t>Para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melhorar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: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medir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quantos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renegociam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após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a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ligação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, dado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que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ainda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não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existe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, e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testar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mais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ligações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por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 </a:t>
            </a:r>
            <a:r>
              <a:rPr sz="1350" dirty="0" err="1">
                <a:solidFill>
                  <a:srgbClr val="3E4C5A"/>
                </a:solidFill>
                <a:latin typeface="Avenir Next"/>
              </a:rPr>
              <a:t>semana</a:t>
            </a:r>
            <a:r>
              <a:rPr sz="1350" dirty="0">
                <a:solidFill>
                  <a:srgbClr val="3E4C5A"/>
                </a:solidFill>
                <a:latin typeface="Avenir Nex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6053328"/>
            <a:ext cx="566928" cy="11430"/>
          </a:xfrm>
          <a:prstGeom prst="rect">
            <a:avLst/>
          </a:prstGeom>
          <a:solidFill>
            <a:srgbClr val="BFA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6181344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 i="0">
                <a:solidFill>
                  <a:srgbClr val="BFAFA4"/>
                </a:solidFill>
                <a:latin typeface="Avenir Next"/>
              </a:rPr>
              <a:t>03   ·   Resultado contra a fila-base e decisão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481328"/>
            <a:ext cx="3749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950" b="0" i="0">
                <a:solidFill>
                  <a:srgbClr val="BFAFA4"/>
                </a:solidFill>
                <a:latin typeface="Avenir Next"/>
              </a:rPr>
              <a:t>PRECISÃO DA FILA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847088"/>
            <a:ext cx="3749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400" b="0" i="0">
                <a:solidFill>
                  <a:srgbClr val="6D8196"/>
                </a:solidFill>
                <a:latin typeface="Baskerville"/>
              </a:rPr>
              <a:t>8 em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33472"/>
            <a:ext cx="3749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BFAFA4"/>
                </a:solidFill>
                <a:latin typeface="Avenir Next"/>
              </a:rPr>
              <a:t>ligações vão para quem realmente atrasaria</a:t>
            </a:r>
          </a:p>
        </p:txBody>
      </p:sp>
      <p:pic>
        <p:nvPicPr>
          <p:cNvPr id="14" name="Picture 13" descr="slide3_pil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020" y="3211644"/>
            <a:ext cx="4160520" cy="24738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431</Words>
  <Application>Microsoft Office PowerPoint</Application>
  <PresentationFormat>Widescreen</PresentationFormat>
  <Paragraphs>30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Arial</vt:lpstr>
      <vt:lpstr>Avenir Next</vt:lpstr>
      <vt:lpstr>Baskerville</vt:lpstr>
      <vt:lpstr>Calibri</vt:lpstr>
      <vt:lpstr>Office Theme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Allana Rodrigues Abrego</cp:lastModifiedBy>
  <cp:revision>2</cp:revision>
  <dcterms:created xsi:type="dcterms:W3CDTF">2013-01-27T09:14:16Z</dcterms:created>
  <dcterms:modified xsi:type="dcterms:W3CDTF">2026-09-07T23:31:23Z</dcterms:modified>
  <cp:category/>
</cp:coreProperties>
</file>