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 Same Side Corner Rectangle 2"/>
          <p:cNvSpPr/>
          <p:nvPr/>
        </p:nvSpPr>
        <p:spPr>
          <a:xfrm>
            <a:off x="6629400" y="658368"/>
            <a:ext cx="4937760" cy="528523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37392" y="475488"/>
            <a:ext cx="155448" cy="155448"/>
          </a:xfrm>
          <a:prstGeom prst="ellipse">
            <a:avLst/>
          </a:prstGeom>
          <a:solidFill>
            <a:srgbClr val="DCA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7498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 i="0">
                <a:solidFill>
                  <a:srgbClr val="BFAFA4"/>
                </a:solidFill>
                <a:latin typeface="Avenir Next"/>
              </a:rPr>
              <a:t>COBRANÇA PREVENTIVA · 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972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0" i="0">
                <a:solidFill>
                  <a:srgbClr val="6D8196"/>
                </a:solidFill>
                <a:latin typeface="Baskerville"/>
              </a:rPr>
              <a:t>R$ 378 mil por semana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0" i="0">
                <a:solidFill>
                  <a:srgbClr val="6D8196"/>
                </a:solidFill>
                <a:latin typeface="Baskerville"/>
              </a:rPr>
              <a:t>em contratos que vão atrasar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432304"/>
            <a:ext cx="1051560" cy="13970"/>
          </a:xfrm>
          <a:prstGeom prst="rect">
            <a:avLst/>
          </a:prstGeom>
          <a:solidFill>
            <a:srgbClr val="DCA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4320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50" b="0" i="0">
                <a:solidFill>
                  <a:srgbClr val="3E4C5A"/>
                </a:solidFill>
                <a:latin typeface="Avenir Next"/>
              </a:rPr>
              <a:t>Prevemos quem não vai pagar a próxima parcela em até 30 dias, sete dias antes do vencimento.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50" b="0" i="0">
                <a:solidFill>
                  <a:srgbClr val="3E4C5A"/>
                </a:solidFill>
                <a:latin typeface="Avenir Next"/>
              </a:rPr>
              <a:t>Cada contrato que chega aos 30 dias custa R$ 1.200. Numa semana típica, 315 contratos chegam lá.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50" b="0" i="0">
                <a:solidFill>
                  <a:srgbClr val="3E4C5A"/>
                </a:solidFill>
                <a:latin typeface="Avenir Next"/>
              </a:rPr>
              <a:t>Uma correção: o status do cadastro não serve para isso. Em 62 contratos ele discorda do que de fato aconteceu, incluindo 22 marcados como quitados que passaram dos 30 dias de atraso.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6053328"/>
            <a:ext cx="566928" cy="11430"/>
          </a:xfrm>
          <a:prstGeom prst="rect">
            <a:avLst/>
          </a:prstGeom>
          <a:solidFill>
            <a:srgbClr val="BFA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1813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BFAFA4"/>
                </a:solidFill>
                <a:latin typeface="Avenir Next"/>
              </a:rPr>
              <a:t>01   ·   O problema e o que estamos prevendo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48132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BFAFA4"/>
                </a:solidFill>
                <a:latin typeface="Avenir Next"/>
              </a:rPr>
              <a:t>EXPOSIÇÃO SEMANAL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47088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4400" b="0" i="0">
                <a:solidFill>
                  <a:srgbClr val="6D8196"/>
                </a:solidFill>
                <a:latin typeface="Baskerville"/>
              </a:rPr>
              <a:t>R$ 378.000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33472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BFAFA4"/>
                </a:solidFill>
                <a:latin typeface="Avenir Next"/>
              </a:rPr>
              <a:t>315 contratos × R$ 1.200</a:t>
            </a:r>
          </a:p>
        </p:txBody>
      </p:sp>
      <p:pic>
        <p:nvPicPr>
          <p:cNvPr id="14" name="Picture 13" descr="slide1_probl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0" y="3620748"/>
            <a:ext cx="4160520" cy="16556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 Same Side Corner Rectangle 2"/>
          <p:cNvSpPr/>
          <p:nvPr/>
        </p:nvSpPr>
        <p:spPr>
          <a:xfrm>
            <a:off x="6629400" y="658368"/>
            <a:ext cx="4937760" cy="528523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37392" y="475488"/>
            <a:ext cx="155448" cy="155448"/>
          </a:xfrm>
          <a:prstGeom prst="ellipse">
            <a:avLst/>
          </a:prstGeom>
          <a:solidFill>
            <a:srgbClr val="DCA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7498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 i="0">
                <a:solidFill>
                  <a:srgbClr val="BFAFA4"/>
                </a:solidFill>
                <a:latin typeface="Avenir Next"/>
              </a:rPr>
              <a:t>O PERFIL DO CONTRATO DE RISCO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972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0" i="0">
                <a:solidFill>
                  <a:srgbClr val="6D8196"/>
                </a:solidFill>
                <a:latin typeface="Baskerville"/>
              </a:rPr>
              <a:t>O que separa quem atrasa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0" i="0">
                <a:solidFill>
                  <a:srgbClr val="6D8196"/>
                </a:solidFill>
                <a:latin typeface="Baskerville"/>
              </a:rPr>
              <a:t>e o que não separa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432304"/>
            <a:ext cx="1051560" cy="13970"/>
          </a:xfrm>
          <a:prstGeom prst="rect">
            <a:avLst/>
          </a:prstGeom>
          <a:solidFill>
            <a:srgbClr val="DCA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249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00" b="0" i="0">
                <a:solidFill>
                  <a:srgbClr val="BFAFA4"/>
                </a:solidFill>
                <a:latin typeface="Avenir Next"/>
              </a:rPr>
              <a:t>O que ficou de fora, e o que usamos no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54096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1250" b="0" i="0">
                <a:solidFill>
                  <a:srgbClr val="3E4C5A"/>
                </a:solidFill>
                <a:latin typeface="Avenir Next"/>
              </a:rPr>
              <a:t>Bairro e sexo  ·  risco jurídico, e medem renda com o rótulo errado. No lugar: o peso da parcela na renda.</a:t>
            </a:r>
          </a:p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1250" b="0" i="0">
                <a:solidFill>
                  <a:srgbClr val="3E4C5A"/>
                </a:solidFill>
                <a:latin typeface="Avenir Next"/>
              </a:rPr>
              <a:t>Status do contrato  ·  é a foto de hoje, não existia na hora da ligação. No lugar: o histórico de pagamento até aquela data.</a:t>
            </a:r>
          </a:p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1250" b="0" i="0">
                <a:solidFill>
                  <a:srgbClr val="3E4C5A"/>
                </a:solidFill>
                <a:latin typeface="Avenir Next"/>
              </a:rPr>
              <a:t>Motivos de atraso  ·  o arquivo não tem número de contrato. Peça a extração com a chave e ele vira roteiro de ligação.</a:t>
            </a:r>
          </a:p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1250" b="0" i="0">
                <a:solidFill>
                  <a:srgbClr val="3E4C5A"/>
                </a:solidFill>
                <a:latin typeface="Avenir Next"/>
              </a:rPr>
              <a:t>O score de bureau foi usado e paga o próprio custo: é o segundo sinal mais forte da lista.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6053328"/>
            <a:ext cx="566928" cy="11430"/>
          </a:xfrm>
          <a:prstGeom prst="rect">
            <a:avLst/>
          </a:prstGeom>
          <a:solidFill>
            <a:srgbClr val="BFA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61813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BFAFA4"/>
                </a:solidFill>
                <a:latin typeface="Avenir Next"/>
              </a:rPr>
              <a:t>02   ·   Sinais, achado negativo e recusas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48132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BFAFA4"/>
                </a:solidFill>
                <a:latin typeface="Avenir Next"/>
              </a:rPr>
              <a:t>ACHADO NEGATIVO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847088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300" b="0" i="1">
                <a:solidFill>
                  <a:srgbClr val="6D8196"/>
                </a:solidFill>
                <a:latin typeface="Baskerville"/>
              </a:rPr>
              <a:t>“O canal da venda
não explica o atraso.”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60904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BFAFA4"/>
                </a:solidFill>
                <a:latin typeface="Avenir Next"/>
              </a:rPr>
              <a:t>Loja, site e televendas têm o mesmo risco</a:t>
            </a:r>
          </a:p>
        </p:txBody>
      </p:sp>
      <p:pic>
        <p:nvPicPr>
          <p:cNvPr id="15" name="Picture 14" descr="slide2_sin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0" y="3625989"/>
            <a:ext cx="4160520" cy="16451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 Same Side Corner Rectangle 2"/>
          <p:cNvSpPr/>
          <p:nvPr/>
        </p:nvSpPr>
        <p:spPr>
          <a:xfrm>
            <a:off x="6629400" y="658368"/>
            <a:ext cx="4937760" cy="528523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37392" y="475488"/>
            <a:ext cx="155448" cy="155448"/>
          </a:xfrm>
          <a:prstGeom prst="ellipse">
            <a:avLst/>
          </a:prstGeom>
          <a:solidFill>
            <a:srgbClr val="DCA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7498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 i="0">
                <a:solidFill>
                  <a:srgbClr val="BFAFA4"/>
                </a:solidFill>
                <a:latin typeface="Avenir Next"/>
              </a:rPr>
              <a:t>O PILOTO FUNCIONA?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972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0" i="0">
                <a:solidFill>
                  <a:srgbClr val="6D8196"/>
                </a:solidFill>
                <a:latin typeface="Baskerville"/>
              </a:rPr>
              <a:t>Recomendação: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0" i="0">
                <a:solidFill>
                  <a:srgbClr val="6D8196"/>
                </a:solidFill>
                <a:latin typeface="Baskerville"/>
              </a:rPr>
              <a:t>ligar, com ressalva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432304"/>
            <a:ext cx="1051560" cy="13970"/>
          </a:xfrm>
          <a:prstGeom prst="rect">
            <a:avLst/>
          </a:prstGeom>
          <a:solidFill>
            <a:srgbClr val="DCA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4320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1250" b="0" i="0">
                <a:solidFill>
                  <a:srgbClr val="3E4C5A"/>
                </a:solidFill>
                <a:latin typeface="Avenir Next"/>
              </a:rPr>
              <a:t>A fila acerta 17 contratos a mais que o critério de hoje e 28 a mais que um sorteio.</a:t>
            </a:r>
          </a:p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1250" b="0" i="0">
                <a:solidFill>
                  <a:srgbClr val="3E4C5A"/>
                </a:solidFill>
                <a:latin typeface="Avenir Next"/>
              </a:rPr>
              <a:t>As 16 ligações que sobram vão para quem pagaria de qualquer jeito e custam minutos. Os 251 contratos fora da fila custam R$ 1.200 cada, se ninguém ligar.</a:t>
            </a:r>
          </a:p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1250" b="0" i="0">
                <a:solidFill>
                  <a:srgbClr val="3E4C5A"/>
                </a:solidFill>
                <a:latin typeface="Avenir Next"/>
              </a:rPr>
              <a:t>O limite não é o modelo, é a agenda: com 315 contratos em risco e 80 ligações, alcançamos no máximo 25% deles.</a:t>
            </a:r>
          </a:p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1250" b="0" i="0">
                <a:solidFill>
                  <a:srgbClr val="3E4C5A"/>
                </a:solidFill>
                <a:latin typeface="Avenir Next"/>
              </a:rPr>
              <a:t>Para melhorar: medir quantos renegociam após a ligação, dado que ainda não existe, e testar mais ligações por semana.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6053328"/>
            <a:ext cx="566928" cy="11430"/>
          </a:xfrm>
          <a:prstGeom prst="rect">
            <a:avLst/>
          </a:prstGeom>
          <a:solidFill>
            <a:srgbClr val="BFA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1813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BFAFA4"/>
                </a:solidFill>
                <a:latin typeface="Avenir Next"/>
              </a:rPr>
              <a:t>03   ·   Resultado contra a fila-base e decisão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48132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BFAFA4"/>
                </a:solidFill>
                <a:latin typeface="Avenir Next"/>
              </a:rPr>
              <a:t>PRECISÃO DA FILA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47088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4400" b="0" i="0">
                <a:solidFill>
                  <a:srgbClr val="6D8196"/>
                </a:solidFill>
                <a:latin typeface="Baskerville"/>
              </a:rPr>
              <a:t>8 em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33472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BFAFA4"/>
                </a:solidFill>
                <a:latin typeface="Avenir Next"/>
              </a:rPr>
              <a:t>ligações vão para quem realmente atrasaria</a:t>
            </a:r>
          </a:p>
        </p:txBody>
      </p:sp>
      <p:pic>
        <p:nvPicPr>
          <p:cNvPr id="14" name="Picture 13" descr="slide3_pil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0" y="3211644"/>
            <a:ext cx="4160520" cy="24738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